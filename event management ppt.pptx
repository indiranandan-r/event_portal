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56" r:id="rId3"/>
    <p:sldId id="261" r:id="rId4"/>
    <p:sldId id="263" r:id="rId5"/>
    <p:sldId id="258" r:id="rId6"/>
    <p:sldId id="259" r:id="rId7"/>
    <p:sldId id="262" r:id="rId8"/>
    <p:sldId id="264" r:id="rId9"/>
  </p:sldIdLst>
  <p:sldSz cx="18288000" cy="10287000"/>
  <p:notesSz cx="6858000" cy="9144000"/>
  <p:embeddedFontLst>
    <p:embeddedFont>
      <p:font typeface="Yu Gothic Medium" panose="020B0500000000000000" pitchFamily="34" charset="-128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0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hyperlink" Target="https://indiranandan-r.github.io/Event_Portal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quest.com/openview/5ae3507a7c9fa1998134f6ae87a5e45f/1?pq-origsite=gscholar&amp;cbl=2028922" TargetMode="External"/><Relationship Id="rId7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hyperlink" Target="https://periodical.uthm.edu.my/index.php/aitcs/article/view/20405" TargetMode="External"/><Relationship Id="rId4" Type="http://schemas.openxmlformats.org/officeDocument/2006/relationships/hyperlink" Target="https://journal.uthm.edu.my/index.php/emait/article/view/2518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05D9C6-7AFF-7850-BEA5-CCF77096BF4C}"/>
              </a:ext>
            </a:extLst>
          </p:cNvPr>
          <p:cNvSpPr txBox="1"/>
          <p:nvPr/>
        </p:nvSpPr>
        <p:spPr>
          <a:xfrm>
            <a:off x="2895600" y="1562100"/>
            <a:ext cx="12649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Event Management Automation 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24600" y="343992"/>
            <a:ext cx="518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91100" y="4264106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 </a:t>
            </a:r>
            <a:r>
              <a:rPr lang="en-US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CoreX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6400" y="6944593"/>
            <a:ext cx="675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KARUNYA K A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ABINAYASRI K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INDIRANANDAN R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JAISHREE T</a:t>
            </a:r>
          </a:p>
          <a:p>
            <a:pPr algn="r"/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524000" y="5905500"/>
            <a:ext cx="632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80754"/>
            <a:ext cx="2306320" cy="2306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0" y="52814"/>
            <a:ext cx="2196574" cy="21965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9278" y="5541466"/>
            <a:ext cx="2266950" cy="22669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5050" y="5541465"/>
            <a:ext cx="2266950" cy="2266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9278" y="7912524"/>
            <a:ext cx="2266950" cy="22292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3973" y="7930131"/>
            <a:ext cx="2288027" cy="222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9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45049" b="-4504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1083" y="3720031"/>
            <a:ext cx="5961" cy="1073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09DBD6-09F7-9EC6-FA98-C740BD8AA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" y="0"/>
            <a:ext cx="18282583" cy="10287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A100A8-9D3D-2727-4827-4C44549CDE70}"/>
              </a:ext>
            </a:extLst>
          </p:cNvPr>
          <p:cNvSpPr txBox="1"/>
          <p:nvPr/>
        </p:nvSpPr>
        <p:spPr>
          <a:xfrm>
            <a:off x="392922" y="342900"/>
            <a:ext cx="99702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6E3D6-E9C4-93C1-D32F-95B5BA67C4E3}"/>
              </a:ext>
            </a:extLst>
          </p:cNvPr>
          <p:cNvSpPr txBox="1"/>
          <p:nvPr/>
        </p:nvSpPr>
        <p:spPr>
          <a:xfrm flipH="1" flipV="1">
            <a:off x="685800" y="1455240"/>
            <a:ext cx="11506199" cy="226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F54444-43DB-8EDD-13EA-8A9FEDE1799C}"/>
              </a:ext>
            </a:extLst>
          </p:cNvPr>
          <p:cNvSpPr/>
          <p:nvPr/>
        </p:nvSpPr>
        <p:spPr>
          <a:xfrm>
            <a:off x="386149" y="1409699"/>
            <a:ext cx="17216051" cy="35394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0213" y="1509989"/>
            <a:ext cx="175048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college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with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500+ participants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registration, attendance, certificates, and reports are often maintained separately.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lead to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20–30% repeated data entry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5–10% duplicate or incorrect records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significant delays in attendance verification and certificate preparation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system can reduce manual work, avoid duplicate entries, and provide faster, accurate event reporting.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34187-50A1-7A31-5822-77C2078B7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132536"/>
            <a:ext cx="9591675" cy="49482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11596922" y="5898645"/>
            <a:ext cx="533400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30%</a:t>
            </a:r>
          </a:p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operational impact</a:t>
            </a:r>
            <a:endParaRPr 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65079"/>
            <a:ext cx="6971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0584" y="1094561"/>
            <a:ext cx="6819900" cy="710964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112341"/>
            <a:ext cx="9988171" cy="5235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0"/>
          <a:stretch/>
        </p:blipFill>
        <p:spPr>
          <a:xfrm>
            <a:off x="8610600" y="6365266"/>
            <a:ext cx="8763000" cy="37312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10600" y="325120"/>
            <a:ext cx="464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94884" y="1094561"/>
            <a:ext cx="6477000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Management: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single platform connects event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creation, registration, verification, QR attendance, feedback, certificates,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reports using one participant record. This reduces repeated data entry and keeps all event information organized.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Event Workflow: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participant verification, attendance tracking, notifications, feedback collection, certificate generation, and report preparation,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making the complete event process faster and easier to manage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754" y="8449685"/>
            <a:ext cx="719236" cy="56024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06181" y="9009932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18"/>
          <a:stretch/>
        </p:blipFill>
        <p:spPr>
          <a:xfrm>
            <a:off x="4517819" y="8009335"/>
            <a:ext cx="1922427" cy="8946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76542" y="8903982"/>
            <a:ext cx="220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DEMO VIDEO LINK</a:t>
            </a:r>
            <a:endParaRPr lang="en-IN" sz="2000" b="1" dirty="0"/>
          </a:p>
        </p:txBody>
      </p:sp>
      <p:sp>
        <p:nvSpPr>
          <p:cNvPr id="19" name="TextBox 18">
            <a:hlinkClick r:id="rId7"/>
          </p:cNvPr>
          <p:cNvSpPr txBox="1"/>
          <p:nvPr/>
        </p:nvSpPr>
        <p:spPr>
          <a:xfrm>
            <a:off x="885520" y="9370688"/>
            <a:ext cx="2629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hlinkClick r:id="rId7"/>
              </a:rPr>
              <a:t>https://indiranandan-r.github.io/Event_Portal/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48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2BF9EB-A9AC-4EE0-94D0-AF1BA4451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09700"/>
            <a:ext cx="17754600" cy="8553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4C47D6-19CC-6193-8C37-916C9C3C934C}"/>
              </a:ext>
            </a:extLst>
          </p:cNvPr>
          <p:cNvSpPr txBox="1"/>
          <p:nvPr/>
        </p:nvSpPr>
        <p:spPr>
          <a:xfrm>
            <a:off x="304800" y="495300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05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F6B168-1562-8236-358C-44FFA5494525}"/>
              </a:ext>
            </a:extLst>
          </p:cNvPr>
          <p:cNvSpPr/>
          <p:nvPr/>
        </p:nvSpPr>
        <p:spPr>
          <a:xfrm>
            <a:off x="1828800" y="1028700"/>
            <a:ext cx="6781800" cy="8265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07AF7-2CFD-3669-D191-4D5E15168421}"/>
              </a:ext>
            </a:extLst>
          </p:cNvPr>
          <p:cNvSpPr txBox="1"/>
          <p:nvPr/>
        </p:nvSpPr>
        <p:spPr>
          <a:xfrm>
            <a:off x="2171700" y="1222802"/>
            <a:ext cx="60960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endParaRPr lang="en-IN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developed using simple web technologies like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 and JavaScript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 attendance, communication, certificates and reports can be handled within the same portal.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prototype already demonstrates the main workflow.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AE268-85C2-A2C4-1714-E2C770F75C76}"/>
              </a:ext>
            </a:extLst>
          </p:cNvPr>
          <p:cNvSpPr/>
          <p:nvPr/>
        </p:nvSpPr>
        <p:spPr>
          <a:xfrm>
            <a:off x="9906000" y="1028700"/>
            <a:ext cx="6781800" cy="8265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10980-FD7C-52CF-2915-6ED1DB4B960E}"/>
              </a:ext>
            </a:extLst>
          </p:cNvPr>
          <p:cNvSpPr txBox="1"/>
          <p:nvPr/>
        </p:nvSpPr>
        <p:spPr>
          <a:xfrm>
            <a:off x="10068560" y="1222802"/>
            <a:ext cx="645668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repeated manual work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event organizers.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 details are entered once and reused throughout the event.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useful for college events, workshops, seminars and competitions.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later with a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backend and database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4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62BDEB-CCE1-D235-2D47-D3AC16E6D30A}"/>
              </a:ext>
            </a:extLst>
          </p:cNvPr>
          <p:cNvSpPr txBox="1"/>
          <p:nvPr/>
        </p:nvSpPr>
        <p:spPr>
          <a:xfrm>
            <a:off x="304800" y="190500"/>
            <a:ext cx="617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6A4CD-EC38-0FBD-24BB-A643D4F7CA51}"/>
              </a:ext>
            </a:extLst>
          </p:cNvPr>
          <p:cNvSpPr txBox="1"/>
          <p:nvPr/>
        </p:nvSpPr>
        <p:spPr>
          <a:xfrm>
            <a:off x="-4005469" y="3726474"/>
            <a:ext cx="58667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74C2F4-71C8-B517-3897-01859C3451DF}"/>
              </a:ext>
            </a:extLst>
          </p:cNvPr>
          <p:cNvSpPr/>
          <p:nvPr/>
        </p:nvSpPr>
        <p:spPr>
          <a:xfrm>
            <a:off x="152400" y="959942"/>
            <a:ext cx="7772400" cy="433595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2E277-F086-56B6-5742-6B17FD056957}"/>
              </a:ext>
            </a:extLst>
          </p:cNvPr>
          <p:cNvSpPr txBox="1"/>
          <p:nvPr/>
        </p:nvSpPr>
        <p:spPr>
          <a:xfrm>
            <a:off x="152400" y="1245817"/>
            <a:ext cx="7848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event management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and organized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of organizers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event process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participants a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experience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the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event in one place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AD6151-9883-8CA7-CEBD-86F6EAA57445}"/>
              </a:ext>
            </a:extLst>
          </p:cNvPr>
          <p:cNvSpPr/>
          <p:nvPr/>
        </p:nvSpPr>
        <p:spPr>
          <a:xfrm>
            <a:off x="152400" y="5534704"/>
            <a:ext cx="7772400" cy="44855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36099-8C9F-60C1-AA19-845F4461A22A}"/>
              </a:ext>
            </a:extLst>
          </p:cNvPr>
          <p:cNvSpPr txBox="1"/>
          <p:nvPr/>
        </p:nvSpPr>
        <p:spPr>
          <a:xfrm>
            <a:off x="375919" y="6045357"/>
            <a:ext cx="71628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data entry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attendance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with QR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communication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certificates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event details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track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959" y="1562100"/>
            <a:ext cx="9690523" cy="68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2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4002AF-3D22-EBEE-FD04-6944547698A5}"/>
              </a:ext>
            </a:extLst>
          </p:cNvPr>
          <p:cNvSpPr txBox="1"/>
          <p:nvPr/>
        </p:nvSpPr>
        <p:spPr>
          <a:xfrm>
            <a:off x="152400" y="297989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REFERENCE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9E5695-BF1C-D696-F904-8AC92FC5E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900310"/>
              </p:ext>
            </p:extLst>
          </p:nvPr>
        </p:nvGraphicFramePr>
        <p:xfrm>
          <a:off x="3048000" y="1079500"/>
          <a:ext cx="12192000" cy="184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77419718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802570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30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4299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70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69103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8445884-E197-F3E5-770C-5FC975996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734959"/>
              </p:ext>
            </p:extLst>
          </p:nvPr>
        </p:nvGraphicFramePr>
        <p:xfrm>
          <a:off x="152400" y="1079500"/>
          <a:ext cx="8915400" cy="871497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399314484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00460362"/>
                    </a:ext>
                  </a:extLst>
                </a:gridCol>
              </a:tblGrid>
              <a:tr h="69578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4752"/>
                  </a:ext>
                </a:extLst>
              </a:tr>
              <a:tr h="174261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 err="1" smtClean="0"/>
                        <a:t>Shara</a:t>
                      </a:r>
                      <a:r>
                        <a:rPr lang="en-US" sz="2200" dirty="0" smtClean="0"/>
                        <a:t>, C., &amp; Sarala, V. (2025). Online Event Management System. International Journal of Management Research and Reviews, 15(2s), 330-332.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 smtClean="0">
                          <a:hlinkClick r:id="rId3"/>
                        </a:rPr>
                        <a:t>https://www.proquest.com/openview/5ae3507a7c9fa1998134f6ae87a5e45f/1?pq-origsite=gscholar&amp;cbl=2028922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26161"/>
                  </a:ext>
                </a:extLst>
              </a:tr>
              <a:tr h="17199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Bukhari, A. N. A., Adly, A., </a:t>
                      </a:r>
                      <a:r>
                        <a:rPr lang="en-US" sz="2200" dirty="0" err="1"/>
                        <a:t>Haidzir</a:t>
                      </a:r>
                      <a:r>
                        <a:rPr lang="en-US" sz="2200" dirty="0"/>
                        <a:t>, I. S., Nathan, S. S., &amp; Saji, N. (2026). </a:t>
                      </a:r>
                      <a:r>
                        <a:rPr lang="en-US" sz="2200" dirty="0" err="1"/>
                        <a:t>iConnect</a:t>
                      </a:r>
                      <a:r>
                        <a:rPr lang="en-US" sz="2200" dirty="0"/>
                        <a:t>: A Web-Based Digital Platform for Integrated Management of Large-Scale Events. Emerging Advances in Integrated Technology, 7(1), 41-50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hlinkClick r:id="rId4"/>
                        </a:rPr>
                        <a:t>https://journal.uthm.edu.my/index.php/emait/article/view/25181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645217"/>
                  </a:ext>
                </a:extLst>
              </a:tr>
              <a:tr h="14912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Putra, N. A. E., &amp; Darman, R. (2025). The Development of a Web Based UTHM Event Central Management System. Applied Information Technology And Computer Science, 6(2), 208-227</a:t>
                      </a:r>
                      <a:r>
                        <a:rPr lang="en-US" dirty="0"/>
                        <a:t>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hlinkClick r:id="rId5"/>
                        </a:rPr>
                        <a:t>https://periodical.uthm.edu.my/index.php/aitcs/article/view/20405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078748"/>
                  </a:ext>
                </a:extLst>
              </a:tr>
              <a:tr h="280562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err="1" smtClean="0">
                          <a:solidFill>
                            <a:schemeClr val="dk1"/>
                          </a:solidFill>
                          <a:cs typeface="Times New Roman" panose="02020603050405020304" pitchFamily="18" charset="0"/>
                        </a:rPr>
                        <a:t>Golder</a:t>
                      </a:r>
                      <a:r>
                        <a:rPr lang="en-IN" sz="2400" dirty="0" smtClean="0">
                          <a:solidFill>
                            <a:schemeClr val="dk1"/>
                          </a:solidFill>
                          <a:cs typeface="Times New Roman" panose="02020603050405020304" pitchFamily="18" charset="0"/>
                        </a:rPr>
                        <a:t>, A., Nandi, S. K., Eva, A. A., Roy, A., &amp; </a:t>
                      </a:r>
                      <a:r>
                        <a:rPr lang="en-IN" sz="2400" dirty="0" err="1" smtClean="0">
                          <a:solidFill>
                            <a:schemeClr val="dk1"/>
                          </a:solidFill>
                          <a:cs typeface="Times New Roman" panose="02020603050405020304" pitchFamily="18" charset="0"/>
                        </a:rPr>
                        <a:t>Ahammed</a:t>
                      </a:r>
                      <a:r>
                        <a:rPr lang="en-IN" sz="2400" dirty="0" smtClean="0">
                          <a:solidFill>
                            <a:schemeClr val="dk1"/>
                          </a:solidFill>
                          <a:cs typeface="Times New Roman" panose="02020603050405020304" pitchFamily="18" charset="0"/>
                        </a:rPr>
                        <a:t>, M. T. (2025, July). A novel framework for end-to-end encrypted peer-to-peer communication. In </a:t>
                      </a:r>
                      <a:r>
                        <a:rPr lang="en-IN" sz="2400" i="1" dirty="0" smtClean="0">
                          <a:solidFill>
                            <a:schemeClr val="dk1"/>
                          </a:solidFill>
                          <a:cs typeface="Times New Roman" panose="02020603050405020304" pitchFamily="18" charset="0"/>
                        </a:rPr>
                        <a:t>2025 International Conference on Quantum Photonics, Artificial Intelligence, and Networking (QPAIN)</a:t>
                      </a:r>
                      <a:r>
                        <a:rPr lang="en-IN" sz="2400" dirty="0" smtClean="0">
                          <a:solidFill>
                            <a:schemeClr val="dk1"/>
                          </a:solidFill>
                          <a:cs typeface="Times New Roman" panose="02020603050405020304" pitchFamily="18" charset="0"/>
                        </a:rPr>
                        <a:t> (pp. 1-6). IEEE.</a:t>
                      </a:r>
                      <a:endParaRPr lang="en-IN" sz="2400" dirty="0" smtClean="0">
                        <a:cs typeface="Times New Roman" panose="02020603050405020304" pitchFamily="18" charset="0"/>
                      </a:endParaRP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hlinkClick r:id="rId3"/>
                        </a:rPr>
                        <a:t>https://www.proquest.com/openview/5ae3507a7c9fa1998134f6ae87a5e45f/1?pq-origsite=gscholar&amp;cbl=2028922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110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FA0A3C1-7E48-A404-7A43-341170C0769A}"/>
              </a:ext>
            </a:extLst>
          </p:cNvPr>
          <p:cNvSpPr txBox="1"/>
          <p:nvPr/>
        </p:nvSpPr>
        <p:spPr>
          <a:xfrm>
            <a:off x="2007504" y="1120055"/>
            <a:ext cx="3555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 sitka display semibold"/>
              </a:rPr>
              <a:t>REFERENCE</a:t>
            </a:r>
            <a:endParaRPr lang="en-IN" sz="3200" dirty="0">
              <a:latin typeface=" sitka display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0AC90D-9AFA-BDAF-1262-232F98609614}"/>
              </a:ext>
            </a:extLst>
          </p:cNvPr>
          <p:cNvSpPr txBox="1"/>
          <p:nvPr/>
        </p:nvSpPr>
        <p:spPr>
          <a:xfrm>
            <a:off x="7167048" y="1067430"/>
            <a:ext cx="3191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 sitka display semibold"/>
              </a:rPr>
              <a:t>LINK</a:t>
            </a:r>
            <a:endParaRPr lang="en-IN" sz="3200" dirty="0">
              <a:latin typeface=" sitka display semibold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AD2AAB-3629-82C5-B052-ADAE6C8BD5F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9"/>
          <a:stretch/>
        </p:blipFill>
        <p:spPr>
          <a:xfrm>
            <a:off x="13553140" y="450389"/>
            <a:ext cx="4302712" cy="4388311"/>
          </a:xfrm>
          <a:prstGeom prst="rect">
            <a:avLst/>
          </a:prstGeom>
        </p:spPr>
      </p:pic>
      <p:sp>
        <p:nvSpPr>
          <p:cNvPr id="6" name="Curved Right Arrow 5"/>
          <p:cNvSpPr/>
          <p:nvPr/>
        </p:nvSpPr>
        <p:spPr>
          <a:xfrm rot="2310526">
            <a:off x="10284632" y="905228"/>
            <a:ext cx="1456784" cy="3904544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Curved Left Arrow 6"/>
          <p:cNvSpPr/>
          <p:nvPr/>
        </p:nvSpPr>
        <p:spPr>
          <a:xfrm rot="1520061">
            <a:off x="14522338" y="5367922"/>
            <a:ext cx="1435324" cy="3465233"/>
          </a:xfrm>
          <a:prstGeom prst="curvedLef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7496" y="5268108"/>
            <a:ext cx="4377948" cy="462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5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FDF44-C925-9EFA-FE36-916FE2A89FAE}"/>
              </a:ext>
            </a:extLst>
          </p:cNvPr>
          <p:cNvSpPr txBox="1"/>
          <p:nvPr/>
        </p:nvSpPr>
        <p:spPr>
          <a:xfrm>
            <a:off x="5638800" y="3924300"/>
            <a:ext cx="784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35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533</Words>
  <Application>Microsoft Office PowerPoint</Application>
  <PresentationFormat>Custom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Yu Gothic Medium</vt:lpstr>
      <vt:lpstr> sitka display semibold</vt:lpstr>
      <vt:lpstr>Times New Roman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consectetur adipiscing elit. Morbi vitae mauris ut nunc feugiat tincidunt ac et purus. Suspendisse et cursus dui. Vivamus lacinia orci ut nibh luctus pulvinar.</dc:title>
  <dc:creator>abina</dc:creator>
  <cp:lastModifiedBy>WELCOME</cp:lastModifiedBy>
  <cp:revision>37</cp:revision>
  <dcterms:created xsi:type="dcterms:W3CDTF">2006-08-16T00:00:00Z</dcterms:created>
  <dcterms:modified xsi:type="dcterms:W3CDTF">2026-09-24T15:40:41Z</dcterms:modified>
  <dc:identifier>DAHV7Kqc_DE</dc:identifier>
</cp:coreProperties>
</file>